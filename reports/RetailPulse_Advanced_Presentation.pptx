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7" d="100"/>
          <a:sy n="77" d="100"/>
        </p:scale>
        <p:origin x="883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97280" y="2011680"/>
            <a:ext cx="1371600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97280" y="2286000"/>
            <a:ext cx="9601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800" b="1">
                <a:solidFill>
                  <a:srgbClr val="FFFFFF"/>
                </a:solidFill>
                <a:latin typeface="Arial"/>
              </a:defRPr>
            </a:pPr>
            <a:r>
              <a:t>RetailPulse</a:t>
            </a:r>
          </a:p>
          <a:p>
            <a:pPr>
              <a:spcBef>
                <a:spcPts val="1200"/>
              </a:spcBef>
              <a:defRPr sz="2000">
                <a:solidFill>
                  <a:srgbClr val="0EA5E9"/>
                </a:solidFill>
                <a:latin typeface="Arial"/>
              </a:defRPr>
            </a:pPr>
            <a:r>
              <a:t>AI-Powered Customer Analytics, Demand Forecasting &amp; MLOps Intelligence Platform</a:t>
            </a:r>
          </a:p>
          <a:p>
            <a:pPr>
              <a:spcBef>
                <a:spcPts val="4000"/>
              </a:spcBef>
              <a:defRPr sz="1300">
                <a:solidFill>
                  <a:srgbClr val="64748B"/>
                </a:solidFill>
                <a:latin typeface="Arial"/>
              </a:defRPr>
            </a:pPr>
            <a:r>
              <a:t>Zidio Internship Executive Technical Presentation | Advanced Production Grade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RETAILPULSE ENTERPRISE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E293B"/>
                </a:solidFill>
                <a:latin typeface="Arial"/>
              </a:defRPr>
            </a:pPr>
            <a:r>
              <a:t>Executive Summary &amp; Core Strategic Vision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3328416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2011680"/>
            <a:ext cx="2779776" cy="17184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563EB"/>
                </a:solidFill>
                <a:latin typeface="Arial"/>
              </a:defRPr>
            </a:pPr>
            <a:r>
              <a:rPr dirty="0"/>
              <a:t>01. Platform Vision</a:t>
            </a:r>
          </a:p>
          <a:p>
            <a:pPr>
              <a:spcBef>
                <a:spcPts val="1400"/>
              </a:spcBef>
              <a:defRPr sz="1300">
                <a:solidFill>
                  <a:srgbClr val="1E293B"/>
                </a:solidFill>
                <a:latin typeface="Arial"/>
              </a:defRPr>
            </a:pPr>
            <a:r>
              <a:rPr dirty="0" err="1"/>
              <a:t>RetailPulse</a:t>
            </a:r>
            <a:r>
              <a:rPr dirty="0"/>
              <a:t> transforms raw retail data into predictive intelligence, bridging machine learning models with intuitive operational dashboards to minimize stock risk and enhance retention.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70832" y="1737360"/>
            <a:ext cx="3328416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645152" y="2011680"/>
            <a:ext cx="2779776" cy="15183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563EB"/>
                </a:solidFill>
                <a:latin typeface="Arial"/>
              </a:defRPr>
            </a:pPr>
            <a:r>
              <a:rPr dirty="0"/>
              <a:t>02. Value Delivered</a:t>
            </a:r>
          </a:p>
          <a:p>
            <a:pPr>
              <a:spcBef>
                <a:spcPts val="1400"/>
              </a:spcBef>
              <a:defRPr sz="1300">
                <a:solidFill>
                  <a:srgbClr val="1E293B"/>
                </a:solidFill>
                <a:latin typeface="Arial"/>
              </a:defRPr>
            </a:pPr>
            <a:r>
              <a:rPr dirty="0"/>
              <a:t>Achieves high forecasting accuracy, mitigates inventory wastage, proactively identifies churn-prone accounts, and drives data-backed decision-making.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10144" y="1737360"/>
            <a:ext cx="3328416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84464" y="2011680"/>
            <a:ext cx="2779776" cy="15183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563EB"/>
                </a:solidFill>
                <a:latin typeface="Arial"/>
              </a:defRPr>
            </a:pPr>
            <a:r>
              <a:rPr dirty="0"/>
              <a:t>03. Non-Functional Goals</a:t>
            </a:r>
          </a:p>
          <a:p>
            <a:pPr>
              <a:spcBef>
                <a:spcPts val="1400"/>
              </a:spcBef>
              <a:defRPr sz="1300">
                <a:solidFill>
                  <a:srgbClr val="1E293B"/>
                </a:solidFill>
                <a:latin typeface="Arial"/>
              </a:defRPr>
            </a:pPr>
            <a:r>
              <a:rPr dirty="0"/>
              <a:t>Engineered with a modular architecture, low-latency dashboard visualization, robust </a:t>
            </a:r>
            <a:r>
              <a:rPr dirty="0" err="1"/>
              <a:t>MLflow</a:t>
            </a:r>
            <a:r>
              <a:rPr dirty="0"/>
              <a:t> tracking, and automated containerized scalability.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RETAILPULSE ENTERPRISE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E293B"/>
                </a:solidFill>
                <a:latin typeface="Arial"/>
              </a:defRPr>
            </a:pPr>
            <a:r>
              <a:t>System Architecture &amp; MLOps Pipeline 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512064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1965960"/>
            <a:ext cx="4572000" cy="7950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563EB"/>
                </a:solidFill>
                <a:latin typeface="Arial"/>
              </a:defRPr>
            </a:pPr>
            <a:r>
              <a:rPr dirty="0"/>
              <a:t>1. Data Ingestion &amp; Cleaning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  <a:latin typeface="Arial"/>
              </a:defRPr>
            </a:pPr>
            <a:r>
              <a:rPr dirty="0"/>
              <a:t>Processes multi-source transactional datasets, handles missing values, removes duplicates, and filters anomalies.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737360"/>
            <a:ext cx="512064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0" y="1965960"/>
            <a:ext cx="4572000" cy="7950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563EB"/>
                </a:solidFill>
                <a:latin typeface="Arial"/>
              </a:defRPr>
            </a:pPr>
            <a:r>
              <a:rPr dirty="0"/>
              <a:t>2. Advanced Feature Engineering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  <a:latin typeface="Arial"/>
              </a:defRPr>
            </a:pPr>
            <a:r>
              <a:rPr dirty="0"/>
              <a:t>Extracts RFM metrics, time-series rolling statistics, customer attributes, and behavioral vectors.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31920"/>
            <a:ext cx="512064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4160520"/>
            <a:ext cx="4572000" cy="7950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563EB"/>
                </a:solidFill>
                <a:latin typeface="Arial"/>
              </a:defRPr>
            </a:pPr>
            <a:r>
              <a:rPr dirty="0"/>
              <a:t>3. Predictive AI &amp; Optimization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  <a:latin typeface="Arial"/>
              </a:defRPr>
            </a:pPr>
            <a:r>
              <a:rPr dirty="0"/>
              <a:t>Deploys K-Means segmentation, Churn classifiers, </a:t>
            </a:r>
            <a:r>
              <a:rPr dirty="0" err="1"/>
              <a:t>Prophet+LSTM</a:t>
            </a:r>
            <a:r>
              <a:rPr dirty="0"/>
              <a:t> hybrid forecasting, and EOQ inventory models.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3931920"/>
            <a:ext cx="512064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0" y="4160520"/>
            <a:ext cx="4572000" cy="7950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563EB"/>
                </a:solidFill>
                <a:latin typeface="Arial"/>
              </a:defRPr>
            </a:pPr>
            <a:r>
              <a:rPr dirty="0"/>
              <a:t>4. Deployment &amp; </a:t>
            </a:r>
            <a:r>
              <a:rPr dirty="0" err="1"/>
              <a:t>MLOps</a:t>
            </a:r>
            <a:r>
              <a:rPr dirty="0"/>
              <a:t> Tracking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  <a:latin typeface="Arial"/>
              </a:defRPr>
            </a:pPr>
            <a:r>
              <a:rPr dirty="0"/>
              <a:t>Integrates multi-page </a:t>
            </a:r>
            <a:r>
              <a:rPr dirty="0" err="1"/>
              <a:t>Streamlit</a:t>
            </a:r>
            <a:r>
              <a:rPr dirty="0"/>
              <a:t> dashboards, Docker containerization, </a:t>
            </a:r>
            <a:r>
              <a:rPr dirty="0" err="1"/>
              <a:t>MLflow</a:t>
            </a:r>
            <a:r>
              <a:rPr dirty="0"/>
              <a:t> monitoring, and Airflow pipelines.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RETAILPULSE ENTERPRISE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E293B"/>
                </a:solidFill>
                <a:latin typeface="Arial"/>
              </a:defRPr>
            </a:pPr>
            <a:r>
              <a:t>Project Execution Timeline &amp; Roadmap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24688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" y="1920240"/>
            <a:ext cx="2011680" cy="1461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  <a:latin typeface="Arial"/>
              </a:defRPr>
            </a:pPr>
            <a:r>
              <a:rPr dirty="0"/>
              <a:t>WEEK 1</a:t>
            </a:r>
          </a:p>
          <a:p>
            <a:pPr>
              <a:spcBef>
                <a:spcPts val="600"/>
              </a:spcBef>
              <a:defRPr sz="1500" b="1">
                <a:solidFill>
                  <a:srgbClr val="1E293B"/>
                </a:solidFill>
                <a:latin typeface="Arial"/>
              </a:defRPr>
            </a:pPr>
            <a:r>
              <a:rPr dirty="0"/>
              <a:t>Planning &amp; EDA</a:t>
            </a:r>
          </a:p>
          <a:p>
            <a:pPr>
              <a:spcBef>
                <a:spcPts val="1200"/>
              </a:spcBef>
              <a:defRPr sz="1200">
                <a:solidFill>
                  <a:srgbClr val="64748B"/>
                </a:solidFill>
                <a:latin typeface="Arial"/>
              </a:defRPr>
            </a:pPr>
            <a:r>
              <a:rPr dirty="0"/>
              <a:t>Requirement analysis, dataset collection, cleaning pipelines, and Exploratory Data Analysis.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56432" y="1737360"/>
            <a:ext cx="24688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85032" y="1920240"/>
            <a:ext cx="2011680" cy="18774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  <a:latin typeface="Arial"/>
              </a:defRPr>
            </a:pPr>
            <a:r>
              <a:rPr dirty="0"/>
              <a:t>WEEK 2</a:t>
            </a:r>
          </a:p>
          <a:p>
            <a:pPr>
              <a:spcBef>
                <a:spcPts val="600"/>
              </a:spcBef>
              <a:defRPr sz="1500" b="1">
                <a:solidFill>
                  <a:srgbClr val="1E293B"/>
                </a:solidFill>
                <a:latin typeface="Arial"/>
              </a:defRPr>
            </a:pPr>
            <a:r>
              <a:rPr dirty="0"/>
              <a:t>Feature &amp; Intelligence</a:t>
            </a:r>
          </a:p>
          <a:p>
            <a:pPr>
              <a:spcBef>
                <a:spcPts val="1200"/>
              </a:spcBef>
              <a:defRPr sz="1200">
                <a:solidFill>
                  <a:srgbClr val="64748B"/>
                </a:solidFill>
                <a:latin typeface="Arial"/>
              </a:defRPr>
            </a:pPr>
            <a:r>
              <a:rPr dirty="0"/>
              <a:t>Feature engineering, K-Means RFM customer segmentation, and Churn prediction model implementation.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1344" y="1737360"/>
            <a:ext cx="24688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9944" y="1920240"/>
            <a:ext cx="2011680" cy="1692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  <a:latin typeface="Arial"/>
              </a:defRPr>
            </a:pPr>
            <a:r>
              <a:rPr dirty="0"/>
              <a:t>WEEK 3</a:t>
            </a:r>
          </a:p>
          <a:p>
            <a:pPr>
              <a:spcBef>
                <a:spcPts val="600"/>
              </a:spcBef>
              <a:defRPr sz="1500" b="1">
                <a:solidFill>
                  <a:srgbClr val="1E293B"/>
                </a:solidFill>
                <a:latin typeface="Arial"/>
              </a:defRPr>
            </a:pPr>
            <a:r>
              <a:rPr dirty="0"/>
              <a:t>Forecasting &amp; Inventory</a:t>
            </a:r>
          </a:p>
          <a:p>
            <a:pPr>
              <a:spcBef>
                <a:spcPts val="1200"/>
              </a:spcBef>
              <a:defRPr sz="1200">
                <a:solidFill>
                  <a:srgbClr val="64748B"/>
                </a:solidFill>
                <a:latin typeface="Arial"/>
              </a:defRPr>
            </a:pPr>
            <a:r>
              <a:rPr dirty="0"/>
              <a:t>Prophet &amp; LSTM time-series modeling, hybrid integration, and inventory optimization rules.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06256" y="1737360"/>
            <a:ext cx="24688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34856" y="1920240"/>
            <a:ext cx="2011680" cy="16466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  <a:latin typeface="Arial"/>
              </a:defRPr>
            </a:pPr>
            <a:r>
              <a:rPr dirty="0"/>
              <a:t>WEEK 4</a:t>
            </a:r>
          </a:p>
          <a:p>
            <a:pPr>
              <a:spcBef>
                <a:spcPts val="600"/>
              </a:spcBef>
              <a:defRPr sz="1500" b="1">
                <a:solidFill>
                  <a:srgbClr val="1E293B"/>
                </a:solidFill>
                <a:latin typeface="Arial"/>
              </a:defRPr>
            </a:pPr>
            <a:r>
              <a:rPr dirty="0"/>
              <a:t>Deployment &amp; Ops</a:t>
            </a:r>
          </a:p>
          <a:p>
            <a:pPr>
              <a:spcBef>
                <a:spcPts val="1200"/>
              </a:spcBef>
              <a:defRPr sz="1200">
                <a:solidFill>
                  <a:srgbClr val="64748B"/>
                </a:solidFill>
                <a:latin typeface="Arial"/>
              </a:defRPr>
            </a:pPr>
            <a:r>
              <a:rPr dirty="0" err="1"/>
              <a:t>Streamlit</a:t>
            </a:r>
            <a:r>
              <a:rPr dirty="0"/>
              <a:t> dashboard development, Docker containerization, performance testing, and reporting.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RETAILPULSE ENTERPRISE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E293B"/>
                </a:solidFill>
                <a:latin typeface="Arial"/>
              </a:defRPr>
            </a:pPr>
            <a:r>
              <a:t>Technical Highlights &amp; MLOps Framework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5242255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" y="2011680"/>
            <a:ext cx="4510735" cy="17748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563EB"/>
                </a:solidFill>
                <a:latin typeface="Arial"/>
              </a:defRPr>
            </a:pPr>
            <a:r>
              <a:rPr dirty="0"/>
              <a:t>Advanced Modeling Techniques</a:t>
            </a:r>
          </a:p>
          <a:p>
            <a:pPr>
              <a:spcBef>
                <a:spcPts val="1600"/>
              </a:spcBef>
              <a:defRPr sz="1300">
                <a:solidFill>
                  <a:srgbClr val="1E293B"/>
                </a:solidFill>
                <a:latin typeface="Arial"/>
              </a:defRPr>
            </a:pPr>
            <a:r>
              <a:rPr dirty="0"/>
              <a:t>• Customer Segmentation via clustering and RFM behavioral scoring.</a:t>
            </a:r>
            <a:br>
              <a:rPr dirty="0"/>
            </a:br>
            <a:r>
              <a:rPr dirty="0"/>
              <a:t>• Churn Prediction using high-performance classification models.</a:t>
            </a:r>
            <a:br>
              <a:rPr dirty="0"/>
            </a:br>
            <a:r>
              <a:rPr dirty="0"/>
              <a:t>• Hybrid Demand Forecasting combining Prophet and LSTM architectures.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737360"/>
            <a:ext cx="5242255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0" y="2011680"/>
            <a:ext cx="4510735" cy="17748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563EB"/>
                </a:solidFill>
                <a:latin typeface="Arial"/>
              </a:defRPr>
            </a:pPr>
            <a:r>
              <a:rPr dirty="0"/>
              <a:t>Production </a:t>
            </a:r>
            <a:r>
              <a:rPr dirty="0" err="1"/>
              <a:t>MLOps</a:t>
            </a:r>
            <a:r>
              <a:rPr dirty="0"/>
              <a:t> Practices</a:t>
            </a:r>
          </a:p>
          <a:p>
            <a:pPr>
              <a:spcBef>
                <a:spcPts val="1600"/>
              </a:spcBef>
              <a:defRPr sz="1300">
                <a:solidFill>
                  <a:srgbClr val="1E293B"/>
                </a:solidFill>
                <a:latin typeface="Arial"/>
              </a:defRPr>
            </a:pPr>
            <a:r>
              <a:rPr dirty="0"/>
              <a:t>• </a:t>
            </a:r>
            <a:r>
              <a:rPr dirty="0" err="1"/>
              <a:t>MLflow</a:t>
            </a:r>
            <a:r>
              <a:rPr dirty="0"/>
              <a:t> for rigorous experiment parameter and metric tracking.</a:t>
            </a:r>
            <a:br>
              <a:rPr dirty="0"/>
            </a:br>
            <a:r>
              <a:rPr dirty="0"/>
              <a:t>• </a:t>
            </a:r>
            <a:r>
              <a:rPr dirty="0" err="1"/>
              <a:t>Optuna</a:t>
            </a:r>
            <a:r>
              <a:rPr dirty="0"/>
              <a:t> for automated hyperparameter tuning and optimization.</a:t>
            </a:r>
            <a:br>
              <a:rPr dirty="0"/>
            </a:br>
            <a:r>
              <a:rPr dirty="0"/>
              <a:t>• Data Drift Detection mechanisms and Airflow pipeline orchestration.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RETAILPULSE ENTERPRISE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E293B"/>
                </a:solidFill>
                <a:latin typeface="Arial"/>
              </a:defRPr>
            </a:pPr>
            <a:r>
              <a:t>Enterprise Features &amp; Acceptance Standards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45920"/>
          <a:ext cx="10728655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278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77824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Module Feature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Operational Description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Acceptance Criteria Status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7782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Customer Segmentation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rPr dirty="0"/>
                        <a:t>Behavioral grouping via RFM &amp; K-Means clustering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rPr dirty="0"/>
                        <a:t>Customers successfully categorized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7782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Demand &amp; Hybrid Forecasting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rPr dirty="0"/>
                        <a:t>Predictive future trends using Prophet and LSTM models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rPr dirty="0"/>
                        <a:t>Reliable high-accuracy forecast trends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7782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Inventory Optimization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rPr dirty="0"/>
                        <a:t>Calculates safety stock levels and EOQ reorder points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rPr dirty="0"/>
                        <a:t>Overstocking risk minimized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7782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MLOps &amp; Drift Detection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rPr dirty="0"/>
                        <a:t>Monitors experiment history and detects data distribution changes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rPr dirty="0"/>
                        <a:t>Performance history &amp; alerts active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RETAILPULSE ENTERPRISE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E293B"/>
                </a:solidFill>
                <a:latin typeface="Arial"/>
              </a:defRPr>
            </a:pPr>
            <a:r>
              <a:t>Technology Stack &amp; Enterprise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24688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" y="1920240"/>
            <a:ext cx="2011680" cy="1318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Arial"/>
              </a:defRPr>
            </a:pPr>
            <a:r>
              <a:rPr dirty="0"/>
              <a:t>CORE LANGUAGE</a:t>
            </a:r>
          </a:p>
          <a:p>
            <a:pPr>
              <a:spcBef>
                <a:spcPts val="800"/>
              </a:spcBef>
              <a:defRPr sz="1600" b="1">
                <a:solidFill>
                  <a:srgbClr val="1E293B"/>
                </a:solidFill>
                <a:latin typeface="Arial"/>
              </a:defRPr>
            </a:pPr>
            <a:r>
              <a:rPr dirty="0"/>
              <a:t>Python 3.12</a:t>
            </a:r>
          </a:p>
          <a:p>
            <a:pPr>
              <a:spcBef>
                <a:spcPts val="1200"/>
              </a:spcBef>
              <a:defRPr sz="1200">
                <a:solidFill>
                  <a:srgbClr val="64748B"/>
                </a:solidFill>
                <a:latin typeface="Arial"/>
              </a:defRPr>
            </a:pPr>
            <a:r>
              <a:rPr dirty="0"/>
              <a:t>Primary environment for ML analytics and modeling.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56432" y="1737360"/>
            <a:ext cx="24688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85032" y="1920240"/>
            <a:ext cx="2011680" cy="1318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Arial"/>
              </a:defRPr>
            </a:pPr>
            <a:r>
              <a:rPr dirty="0"/>
              <a:t>FRONTEND UI</a:t>
            </a:r>
          </a:p>
          <a:p>
            <a:pPr>
              <a:spcBef>
                <a:spcPts val="800"/>
              </a:spcBef>
              <a:defRPr sz="1600" b="1">
                <a:solidFill>
                  <a:srgbClr val="1E293B"/>
                </a:solidFill>
                <a:latin typeface="Arial"/>
              </a:defRPr>
            </a:pPr>
            <a:r>
              <a:rPr dirty="0" err="1"/>
              <a:t>Streamlit</a:t>
            </a:r>
            <a:endParaRPr dirty="0"/>
          </a:p>
          <a:p>
            <a:pPr>
              <a:spcBef>
                <a:spcPts val="1200"/>
              </a:spcBef>
              <a:defRPr sz="1200">
                <a:solidFill>
                  <a:srgbClr val="64748B"/>
                </a:solidFill>
                <a:latin typeface="Arial"/>
              </a:defRPr>
            </a:pPr>
            <a:r>
              <a:rPr dirty="0"/>
              <a:t>Interactive multi-page visual dashboards and control panels.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1344" y="1737360"/>
            <a:ext cx="24688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9944" y="1920240"/>
            <a:ext cx="2011680" cy="15645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Arial"/>
              </a:defRPr>
            </a:pPr>
            <a:r>
              <a:rPr dirty="0"/>
              <a:t>MACHINE LEARNING</a:t>
            </a:r>
          </a:p>
          <a:p>
            <a:pPr>
              <a:spcBef>
                <a:spcPts val="800"/>
              </a:spcBef>
              <a:defRPr sz="1600" b="1">
                <a:solidFill>
                  <a:srgbClr val="1E293B"/>
                </a:solidFill>
                <a:latin typeface="Arial"/>
              </a:defRPr>
            </a:pPr>
            <a:r>
              <a:rPr dirty="0"/>
              <a:t>Scikit-Learn &amp; TensorFlow</a:t>
            </a:r>
          </a:p>
          <a:p>
            <a:pPr>
              <a:spcBef>
                <a:spcPts val="1200"/>
              </a:spcBef>
              <a:defRPr sz="1200">
                <a:solidFill>
                  <a:srgbClr val="64748B"/>
                </a:solidFill>
                <a:latin typeface="Arial"/>
              </a:defRPr>
            </a:pPr>
            <a:r>
              <a:rPr dirty="0"/>
              <a:t>Advanced classification, clustering, and neural networks.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06256" y="1737360"/>
            <a:ext cx="24688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34856" y="1920240"/>
            <a:ext cx="2011680" cy="1318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Arial"/>
              </a:defRPr>
            </a:pPr>
            <a:r>
              <a:rPr dirty="0"/>
              <a:t>CONTAINERIZATION</a:t>
            </a:r>
          </a:p>
          <a:p>
            <a:pPr>
              <a:spcBef>
                <a:spcPts val="800"/>
              </a:spcBef>
              <a:defRPr sz="1600" b="1">
                <a:solidFill>
                  <a:srgbClr val="1E293B"/>
                </a:solidFill>
                <a:latin typeface="Arial"/>
              </a:defRPr>
            </a:pPr>
            <a:r>
              <a:rPr dirty="0"/>
              <a:t>Docker &amp; GitHub</a:t>
            </a:r>
          </a:p>
          <a:p>
            <a:pPr>
              <a:spcBef>
                <a:spcPts val="1200"/>
              </a:spcBef>
              <a:defRPr sz="1200">
                <a:solidFill>
                  <a:srgbClr val="64748B"/>
                </a:solidFill>
                <a:latin typeface="Arial"/>
              </a:defRPr>
            </a:pPr>
            <a:r>
              <a:rPr dirty="0"/>
              <a:t>Portable execution environments and robust version control.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97280" y="1371600"/>
            <a:ext cx="10058400" cy="25083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Arial"/>
              </a:defRPr>
            </a:pPr>
            <a:r>
              <a:rPr dirty="0"/>
              <a:t>Conclusion &amp; Future Roadmap</a:t>
            </a:r>
          </a:p>
          <a:p>
            <a:pPr>
              <a:spcBef>
                <a:spcPts val="2000"/>
              </a:spcBef>
            </a:pPr>
            <a:r>
              <a:rPr sz="1500" b="1" dirty="0">
                <a:solidFill>
                  <a:srgbClr val="0EA5E9"/>
                </a:solidFill>
              </a:rPr>
              <a:t>• Practical Impact: </a:t>
            </a:r>
            <a:r>
              <a:rPr sz="1500" dirty="0">
                <a:solidFill>
                  <a:srgbClr val="FFFFFF"/>
                </a:solidFill>
              </a:rPr>
              <a:t>Successfully demonstrated end-to-end data pipeline construction, predictive modeling, and professional application deployment.</a:t>
            </a:r>
          </a:p>
          <a:p>
            <a:pPr>
              <a:spcBef>
                <a:spcPts val="2000"/>
              </a:spcBef>
            </a:pPr>
            <a:r>
              <a:rPr sz="1500" b="1" dirty="0">
                <a:solidFill>
                  <a:srgbClr val="0EA5E9"/>
                </a:solidFill>
              </a:rPr>
              <a:t>• Industry Standards: </a:t>
            </a:r>
            <a:r>
              <a:rPr sz="1500" dirty="0">
                <a:solidFill>
                  <a:srgbClr val="FFFFFF"/>
                </a:solidFill>
              </a:rPr>
              <a:t>Applied modular architecture, </a:t>
            </a:r>
            <a:r>
              <a:rPr sz="1500" dirty="0" err="1">
                <a:solidFill>
                  <a:srgbClr val="FFFFFF"/>
                </a:solidFill>
              </a:rPr>
              <a:t>MLflow</a:t>
            </a:r>
            <a:r>
              <a:rPr sz="1500" dirty="0">
                <a:solidFill>
                  <a:srgbClr val="FFFFFF"/>
                </a:solidFill>
              </a:rPr>
              <a:t> tracking, Docker containerization, and robust Git version control.</a:t>
            </a:r>
          </a:p>
          <a:p>
            <a:pPr>
              <a:spcBef>
                <a:spcPts val="2000"/>
              </a:spcBef>
            </a:pPr>
            <a:r>
              <a:rPr sz="1500" b="1" dirty="0">
                <a:solidFill>
                  <a:srgbClr val="0EA5E9"/>
                </a:solidFill>
              </a:rPr>
              <a:t>• Future Scale: </a:t>
            </a:r>
            <a:r>
              <a:rPr sz="1500" dirty="0">
                <a:solidFill>
                  <a:srgbClr val="FFFFFF"/>
                </a:solidFill>
              </a:rPr>
              <a:t>Expansion toward real-time streaming analytics, cloud-native enterprise deployment, and automated recommendation engines.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551</Words>
  <Application>Microsoft Office PowerPoint</Application>
  <PresentationFormat>Widescreen</PresentationFormat>
  <Paragraphs>76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Gulafsha Gulafsha</cp:lastModifiedBy>
  <cp:revision>2</cp:revision>
  <dcterms:created xsi:type="dcterms:W3CDTF">2013-01-27T09:14:16Z</dcterms:created>
  <dcterms:modified xsi:type="dcterms:W3CDTF">2026-08-07T15:33:44Z</dcterms:modified>
  <cp:category/>
</cp:coreProperties>
</file>